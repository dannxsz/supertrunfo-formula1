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1" d="100"/>
          <a:sy n="111" d="100"/>
        </p:scale>
        <p:origin x="558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microsoft.com/office/2016/11/relationships/changesInfo" Target="changesInfos/changesInfo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DANIEL SCATOLINO" userId="64b2f956-6a76-4969-a88e-626d887e5386" providerId="ADAL" clId="{1379140C-83D8-4097-91A2-559D5769FDB9}"/>
    <pc:docChg chg="custSel modSld">
      <pc:chgData name="DANIEL SCATOLINO" userId="64b2f956-6a76-4969-a88e-626d887e5386" providerId="ADAL" clId="{1379140C-83D8-4097-91A2-559D5769FDB9}" dt="2026-09-15T19:18:22.651" v="73" actId="478"/>
      <pc:docMkLst>
        <pc:docMk/>
      </pc:docMkLst>
      <pc:sldChg chg="modSp mod">
        <pc:chgData name="DANIEL SCATOLINO" userId="64b2f956-6a76-4969-a88e-626d887e5386" providerId="ADAL" clId="{1379140C-83D8-4097-91A2-559D5769FDB9}" dt="2026-09-15T19:15:54.885" v="55" actId="20577"/>
        <pc:sldMkLst>
          <pc:docMk/>
          <pc:sldMk cId="0" sldId="256"/>
        </pc:sldMkLst>
        <pc:spChg chg="mod">
          <ac:chgData name="DANIEL SCATOLINO" userId="64b2f956-6a76-4969-a88e-626d887e5386" providerId="ADAL" clId="{1379140C-83D8-4097-91A2-559D5769FDB9}" dt="2026-09-15T19:15:54.885" v="55" actId="20577"/>
          <ac:spMkLst>
            <pc:docMk/>
            <pc:sldMk cId="0" sldId="256"/>
            <ac:spMk id="11" creationId="{00000000-0000-0000-0000-000000000000}"/>
          </ac:spMkLst>
        </pc:spChg>
      </pc:sldChg>
      <pc:sldChg chg="delSp modSp mod">
        <pc:chgData name="DANIEL SCATOLINO" userId="64b2f956-6a76-4969-a88e-626d887e5386" providerId="ADAL" clId="{1379140C-83D8-4097-91A2-559D5769FDB9}" dt="2026-09-15T19:18:22.651" v="73" actId="478"/>
        <pc:sldMkLst>
          <pc:docMk/>
          <pc:sldMk cId="0" sldId="262"/>
        </pc:sldMkLst>
        <pc:spChg chg="mod">
          <ac:chgData name="DANIEL SCATOLINO" userId="64b2f956-6a76-4969-a88e-626d887e5386" providerId="ADAL" clId="{1379140C-83D8-4097-91A2-559D5769FDB9}" dt="2026-09-15T19:18:17.574" v="72" actId="20577"/>
          <ac:spMkLst>
            <pc:docMk/>
            <pc:sldMk cId="0" sldId="262"/>
            <ac:spMk id="4" creationId="{00000000-0000-0000-0000-000000000000}"/>
          </ac:spMkLst>
        </pc:spChg>
        <pc:spChg chg="del">
          <ac:chgData name="DANIEL SCATOLINO" userId="64b2f956-6a76-4969-a88e-626d887e5386" providerId="ADAL" clId="{1379140C-83D8-4097-91A2-559D5769FDB9}" dt="2026-09-15T19:18:22.651" v="73" actId="478"/>
          <ac:spMkLst>
            <pc:docMk/>
            <pc:sldMk cId="0" sldId="262"/>
            <ac:spMk id="5" creationId="{00000000-0000-0000-0000-000000000000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29953574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hero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94360" y="1234440"/>
            <a:ext cx="5303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</a:rPr>
              <a:t>SUPER TRUNFO</a:t>
            </a:r>
            <a:endParaRPr lang="en-US" sz="3000" dirty="0"/>
          </a:p>
        </p:txBody>
      </p:sp>
      <p:sp>
        <p:nvSpPr>
          <p:cNvPr id="4" name="Text 1"/>
          <p:cNvSpPr/>
          <p:nvPr/>
        </p:nvSpPr>
        <p:spPr>
          <a:xfrm>
            <a:off x="594360" y="1783080"/>
            <a:ext cx="62179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200" b="1" dirty="0">
                <a:solidFill>
                  <a:srgbClr val="FFFFFF"/>
                </a:solidFill>
              </a:rPr>
              <a:t>FÓRMULA 1</a:t>
            </a:r>
            <a:endParaRPr lang="en-US" sz="5200" dirty="0"/>
          </a:p>
        </p:txBody>
      </p:sp>
      <p:sp>
        <p:nvSpPr>
          <p:cNvPr id="5" name="Shape 2"/>
          <p:cNvSpPr/>
          <p:nvPr/>
        </p:nvSpPr>
        <p:spPr>
          <a:xfrm>
            <a:off x="594360" y="2651760"/>
            <a:ext cx="2194560" cy="0"/>
          </a:xfrm>
          <a:prstGeom prst="line">
            <a:avLst/>
          </a:prstGeom>
          <a:noFill/>
          <a:ln w="508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594360" y="2907792"/>
            <a:ext cx="5212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9D9D9"/>
                </a:solidFill>
              </a:rPr>
              <a:t>Aplicação Console em C# com classes, exceções e testes de unidade</a:t>
            </a:r>
            <a:endParaRPr lang="en-US" sz="1900" dirty="0"/>
          </a:p>
        </p:txBody>
      </p:sp>
      <p:sp>
        <p:nvSpPr>
          <p:cNvPr id="7" name="Shape 4"/>
          <p:cNvSpPr/>
          <p:nvPr/>
        </p:nvSpPr>
        <p:spPr>
          <a:xfrm>
            <a:off x="594360" y="3794760"/>
            <a:ext cx="2468880" cy="347472"/>
          </a:xfrm>
          <a:prstGeom prst="roundRect">
            <a:avLst>
              <a:gd name="adj" fmla="val 15789"/>
            </a:avLst>
          </a:prstGeom>
          <a:solidFill>
            <a:srgbClr val="D92525">
              <a:alpha val="95000"/>
            </a:srgbClr>
          </a:solidFill>
          <a:ln w="12700">
            <a:solidFill>
              <a:srgbClr val="D925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8" name="Text 5"/>
          <p:cNvSpPr/>
          <p:nvPr/>
        </p:nvSpPr>
        <p:spPr>
          <a:xfrm>
            <a:off x="704088" y="3867912"/>
            <a:ext cx="22494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TRABALHO DE PROGRAMAÇÃO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246120" y="3794760"/>
            <a:ext cx="1645920" cy="347472"/>
          </a:xfrm>
          <a:prstGeom prst="roundRect">
            <a:avLst>
              <a:gd name="adj" fmla="val 15789"/>
            </a:avLst>
          </a:prstGeom>
          <a:solidFill>
            <a:srgbClr val="D92525">
              <a:alpha val="95000"/>
            </a:srgbClr>
          </a:solidFill>
          <a:ln w="12700">
            <a:solidFill>
              <a:srgbClr val="D925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3355848" y="3867912"/>
            <a:ext cx="142646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.NET 8 + xUnit</a:t>
            </a:r>
            <a:endParaRPr lang="en-US" sz="1050" dirty="0"/>
          </a:p>
        </p:txBody>
      </p:sp>
      <p:sp>
        <p:nvSpPr>
          <p:cNvPr id="11" name="Text 8"/>
          <p:cNvSpPr/>
          <p:nvPr/>
        </p:nvSpPr>
        <p:spPr>
          <a:xfrm>
            <a:off x="594360" y="5989320"/>
            <a:ext cx="5852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D9D9D9"/>
                </a:solidFill>
              </a:rPr>
              <a:t>Equipe: Daniel </a:t>
            </a:r>
            <a:r>
              <a:rPr lang="en-US" sz="1300" dirty="0" err="1">
                <a:solidFill>
                  <a:srgbClr val="D9D9D9"/>
                </a:solidFill>
              </a:rPr>
              <a:t>Scatolino</a:t>
            </a:r>
            <a:r>
              <a:rPr lang="en-US" sz="1300" dirty="0">
                <a:solidFill>
                  <a:srgbClr val="D9D9D9"/>
                </a:solidFill>
              </a:rPr>
              <a:t> , Paulo Pinto e Victor Avellar.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1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rid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Temática do trabalho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21208" y="850392"/>
            <a:ext cx="8229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B8B8"/>
                </a:solidFill>
              </a:rPr>
              <a:t>Jogo de cartas competitivo inspirado no universo da Fórmula 1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463040" cy="0"/>
          </a:xfrm>
          <a:prstGeom prst="line">
            <a:avLst/>
          </a:prstGeom>
          <a:noFill/>
          <a:ln w="381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731520" y="160020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92525"/>
                </a:solidFill>
              </a:rPr>
              <a:t>■ </a:t>
            </a:r>
            <a:r>
              <a:rPr lang="en-US" sz="1900" dirty="0">
                <a:solidFill>
                  <a:srgbClr val="FFFFFF"/>
                </a:solidFill>
              </a:rPr>
              <a:t>Cada carta representa um piloto e sua equipe.</a:t>
            </a:r>
            <a:endParaRPr lang="en-US" sz="1900" dirty="0"/>
          </a:p>
        </p:txBody>
      </p:sp>
      <p:sp>
        <p:nvSpPr>
          <p:cNvPr id="7" name="Text 4"/>
          <p:cNvSpPr/>
          <p:nvPr/>
        </p:nvSpPr>
        <p:spPr>
          <a:xfrm>
            <a:off x="731520" y="214884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92525"/>
                </a:solidFill>
              </a:rPr>
              <a:t>■ </a:t>
            </a:r>
            <a:r>
              <a:rPr lang="en-US" sz="1900" dirty="0">
                <a:solidFill>
                  <a:srgbClr val="FFFFFF"/>
                </a:solidFill>
              </a:rPr>
              <a:t>O jogador escolhe um atributo para comparar.</a:t>
            </a:r>
            <a:endParaRPr lang="en-US" sz="1900" dirty="0"/>
          </a:p>
        </p:txBody>
      </p:sp>
      <p:sp>
        <p:nvSpPr>
          <p:cNvPr id="8" name="Text 5"/>
          <p:cNvSpPr/>
          <p:nvPr/>
        </p:nvSpPr>
        <p:spPr>
          <a:xfrm>
            <a:off x="731520" y="2697480"/>
            <a:ext cx="5669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92525"/>
                </a:solidFill>
              </a:rPr>
              <a:t>■ </a:t>
            </a:r>
            <a:r>
              <a:rPr lang="en-US" sz="1900" dirty="0">
                <a:solidFill>
                  <a:srgbClr val="FFFFFF"/>
                </a:solidFill>
              </a:rPr>
              <a:t>Quem vence a rodada recebe as duas cartas.</a:t>
            </a:r>
            <a:endParaRPr lang="en-US" sz="1900" dirty="0"/>
          </a:p>
        </p:txBody>
      </p:sp>
      <p:sp>
        <p:nvSpPr>
          <p:cNvPr id="9" name="Text 6"/>
          <p:cNvSpPr/>
          <p:nvPr/>
        </p:nvSpPr>
        <p:spPr>
          <a:xfrm>
            <a:off x="731520" y="324612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900" dirty="0">
                <a:solidFill>
                  <a:srgbClr val="D92525"/>
                </a:solidFill>
              </a:rPr>
              <a:t>■ </a:t>
            </a:r>
            <a:r>
              <a:rPr lang="en-US" sz="1900" dirty="0">
                <a:solidFill>
                  <a:srgbClr val="FFFFFF"/>
                </a:solidFill>
              </a:rPr>
              <a:t>A partida termina quando um jogador fica sem cartas.</a:t>
            </a:r>
            <a:endParaRPr lang="en-US" sz="1900" dirty="0"/>
          </a:p>
        </p:txBody>
      </p:sp>
      <p:sp>
        <p:nvSpPr>
          <p:cNvPr id="10" name="Text 7"/>
          <p:cNvSpPr/>
          <p:nvPr/>
        </p:nvSpPr>
        <p:spPr>
          <a:xfrm>
            <a:off x="7406640" y="148132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FFFFFF"/>
                </a:solidFill>
              </a:rPr>
              <a:t>Atributos</a:t>
            </a:r>
            <a:endParaRPr lang="en-US" sz="2000" dirty="0"/>
          </a:p>
        </p:txBody>
      </p:sp>
      <p:sp>
        <p:nvSpPr>
          <p:cNvPr id="11" name="Shape 8"/>
          <p:cNvSpPr/>
          <p:nvPr/>
        </p:nvSpPr>
        <p:spPr>
          <a:xfrm>
            <a:off x="7406640" y="1965960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D92525">
              <a:alpha val="95000"/>
            </a:srgbClr>
          </a:solidFill>
          <a:ln w="12700">
            <a:solidFill>
              <a:srgbClr val="D925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7516368" y="2039112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Vitórias</a:t>
            </a:r>
            <a:endParaRPr lang="en-US" sz="1050" dirty="0"/>
          </a:p>
        </p:txBody>
      </p:sp>
      <p:sp>
        <p:nvSpPr>
          <p:cNvPr id="13" name="Shape 10"/>
          <p:cNvSpPr/>
          <p:nvPr/>
        </p:nvSpPr>
        <p:spPr>
          <a:xfrm>
            <a:off x="7406640" y="2496312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D92525">
              <a:alpha val="95000"/>
            </a:srgbClr>
          </a:solidFill>
          <a:ln w="12700">
            <a:solidFill>
              <a:srgbClr val="D925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4" name="Text 11"/>
          <p:cNvSpPr/>
          <p:nvPr/>
        </p:nvSpPr>
        <p:spPr>
          <a:xfrm>
            <a:off x="7516368" y="2569464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Pódios</a:t>
            </a:r>
            <a:endParaRPr lang="en-US" sz="1050" dirty="0"/>
          </a:p>
        </p:txBody>
      </p:sp>
      <p:sp>
        <p:nvSpPr>
          <p:cNvPr id="15" name="Shape 12"/>
          <p:cNvSpPr/>
          <p:nvPr/>
        </p:nvSpPr>
        <p:spPr>
          <a:xfrm>
            <a:off x="7406640" y="3026664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D92525">
              <a:alpha val="95000"/>
            </a:srgbClr>
          </a:solidFill>
          <a:ln w="12700">
            <a:solidFill>
              <a:srgbClr val="D925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7516368" y="3099816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Pole positions</a:t>
            </a:r>
            <a:endParaRPr lang="en-US" sz="1050" dirty="0"/>
          </a:p>
        </p:txBody>
      </p:sp>
      <p:sp>
        <p:nvSpPr>
          <p:cNvPr id="17" name="Shape 14"/>
          <p:cNvSpPr/>
          <p:nvPr/>
        </p:nvSpPr>
        <p:spPr>
          <a:xfrm>
            <a:off x="7406640" y="3557016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D92525">
              <a:alpha val="95000"/>
            </a:srgbClr>
          </a:solidFill>
          <a:ln w="12700">
            <a:solidFill>
              <a:srgbClr val="D925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7516368" y="3630168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Títulos mundiais</a:t>
            </a:r>
            <a:endParaRPr lang="en-US" sz="1050" dirty="0"/>
          </a:p>
        </p:txBody>
      </p:sp>
      <p:sp>
        <p:nvSpPr>
          <p:cNvPr id="19" name="Shape 16"/>
          <p:cNvSpPr/>
          <p:nvPr/>
        </p:nvSpPr>
        <p:spPr>
          <a:xfrm>
            <a:off x="7406640" y="4087368"/>
            <a:ext cx="2286000" cy="347472"/>
          </a:xfrm>
          <a:prstGeom prst="roundRect">
            <a:avLst>
              <a:gd name="adj" fmla="val 15789"/>
            </a:avLst>
          </a:prstGeom>
          <a:solidFill>
            <a:srgbClr val="D92525">
              <a:alpha val="95000"/>
            </a:srgbClr>
          </a:solidFill>
          <a:ln w="12700">
            <a:solidFill>
              <a:srgbClr val="D9252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0" name="Text 17"/>
          <p:cNvSpPr/>
          <p:nvPr/>
        </p:nvSpPr>
        <p:spPr>
          <a:xfrm>
            <a:off x="7516368" y="4160520"/>
            <a:ext cx="206654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</a:rPr>
              <a:t>Pit stop médio</a:t>
            </a:r>
            <a:endParaRPr lang="en-US" sz="1050" dirty="0"/>
          </a:p>
        </p:txBody>
      </p:sp>
      <p:sp>
        <p:nvSpPr>
          <p:cNvPr id="21" name="Text 18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ch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Funcionamento do programa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21208" y="850392"/>
            <a:ext cx="8229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B8B8"/>
                </a:solidFill>
              </a:rPr>
              <a:t>Fluxo simples para apresentar o código funcionando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463040" cy="0"/>
          </a:xfrm>
          <a:prstGeom prst="line">
            <a:avLst/>
          </a:prstGeom>
          <a:noFill/>
          <a:ln w="381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Shape 3"/>
          <p:cNvSpPr/>
          <p:nvPr/>
        </p:nvSpPr>
        <p:spPr>
          <a:xfrm>
            <a:off x="731520" y="173736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242424">
              <a:alpha val="95000"/>
            </a:srgbClr>
          </a:solidFill>
          <a:ln w="12700">
            <a:solidFill>
              <a:srgbClr val="44444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7" name="Text 4"/>
          <p:cNvSpPr/>
          <p:nvPr/>
        </p:nvSpPr>
        <p:spPr>
          <a:xfrm>
            <a:off x="868680" y="188366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2525"/>
                </a:solidFill>
              </a:rPr>
              <a:t>1</a:t>
            </a:r>
            <a:endParaRPr lang="en-US" sz="2200" dirty="0"/>
          </a:p>
        </p:txBody>
      </p:sp>
      <p:sp>
        <p:nvSpPr>
          <p:cNvPr id="8" name="Text 5"/>
          <p:cNvSpPr/>
          <p:nvPr/>
        </p:nvSpPr>
        <p:spPr>
          <a:xfrm>
            <a:off x="1417320" y="1920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Criar baralho</a:t>
            </a:r>
            <a:endParaRPr lang="en-US" sz="1700" dirty="0"/>
          </a:p>
        </p:txBody>
      </p:sp>
      <p:sp>
        <p:nvSpPr>
          <p:cNvPr id="9" name="Shape 6"/>
          <p:cNvSpPr/>
          <p:nvPr/>
        </p:nvSpPr>
        <p:spPr>
          <a:xfrm>
            <a:off x="4480560" y="173736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242424">
              <a:alpha val="95000"/>
            </a:srgbClr>
          </a:solidFill>
          <a:ln w="12700">
            <a:solidFill>
              <a:srgbClr val="44444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0" name="Text 7"/>
          <p:cNvSpPr/>
          <p:nvPr/>
        </p:nvSpPr>
        <p:spPr>
          <a:xfrm>
            <a:off x="4617720" y="188366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2525"/>
                </a:solidFill>
              </a:rPr>
              <a:t>2</a:t>
            </a:r>
            <a:endParaRPr lang="en-US" sz="2200" dirty="0"/>
          </a:p>
        </p:txBody>
      </p:sp>
      <p:sp>
        <p:nvSpPr>
          <p:cNvPr id="11" name="Text 8"/>
          <p:cNvSpPr/>
          <p:nvPr/>
        </p:nvSpPr>
        <p:spPr>
          <a:xfrm>
            <a:off x="5166360" y="1920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Embaralhar</a:t>
            </a:r>
            <a:endParaRPr lang="en-US" sz="1700" dirty="0"/>
          </a:p>
        </p:txBody>
      </p:sp>
      <p:sp>
        <p:nvSpPr>
          <p:cNvPr id="12" name="Shape 9"/>
          <p:cNvSpPr/>
          <p:nvPr/>
        </p:nvSpPr>
        <p:spPr>
          <a:xfrm>
            <a:off x="8229600" y="173736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242424">
              <a:alpha val="95000"/>
            </a:srgbClr>
          </a:solidFill>
          <a:ln w="12700">
            <a:solidFill>
              <a:srgbClr val="44444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3" name="Text 10"/>
          <p:cNvSpPr/>
          <p:nvPr/>
        </p:nvSpPr>
        <p:spPr>
          <a:xfrm>
            <a:off x="8366760" y="188366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2525"/>
                </a:solidFill>
              </a:rPr>
              <a:t>3</a:t>
            </a:r>
            <a:endParaRPr lang="en-US" sz="2200" dirty="0"/>
          </a:p>
        </p:txBody>
      </p:sp>
      <p:sp>
        <p:nvSpPr>
          <p:cNvPr id="14" name="Text 11"/>
          <p:cNvSpPr/>
          <p:nvPr/>
        </p:nvSpPr>
        <p:spPr>
          <a:xfrm>
            <a:off x="8915400" y="192024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Distribuir cartas</a:t>
            </a:r>
            <a:endParaRPr lang="en-US" sz="1700" dirty="0"/>
          </a:p>
        </p:txBody>
      </p:sp>
      <p:sp>
        <p:nvSpPr>
          <p:cNvPr id="15" name="Shape 12"/>
          <p:cNvSpPr/>
          <p:nvPr/>
        </p:nvSpPr>
        <p:spPr>
          <a:xfrm>
            <a:off x="731520" y="3291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242424">
              <a:alpha val="95000"/>
            </a:srgbClr>
          </a:solidFill>
          <a:ln w="12700">
            <a:solidFill>
              <a:srgbClr val="44444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6" name="Text 13"/>
          <p:cNvSpPr/>
          <p:nvPr/>
        </p:nvSpPr>
        <p:spPr>
          <a:xfrm>
            <a:off x="868680" y="343814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2525"/>
                </a:solidFill>
              </a:rPr>
              <a:t>4</a:t>
            </a:r>
            <a:endParaRPr lang="en-US" sz="2200" dirty="0"/>
          </a:p>
        </p:txBody>
      </p:sp>
      <p:sp>
        <p:nvSpPr>
          <p:cNvPr id="17" name="Text 14"/>
          <p:cNvSpPr/>
          <p:nvPr/>
        </p:nvSpPr>
        <p:spPr>
          <a:xfrm>
            <a:off x="141732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Escolher atributo</a:t>
            </a:r>
            <a:endParaRPr lang="en-US" sz="1700" dirty="0"/>
          </a:p>
        </p:txBody>
      </p:sp>
      <p:sp>
        <p:nvSpPr>
          <p:cNvPr id="18" name="Shape 15"/>
          <p:cNvSpPr/>
          <p:nvPr/>
        </p:nvSpPr>
        <p:spPr>
          <a:xfrm>
            <a:off x="4480560" y="3291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242424">
              <a:alpha val="95000"/>
            </a:srgbClr>
          </a:solidFill>
          <a:ln w="12700">
            <a:solidFill>
              <a:srgbClr val="44444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9" name="Text 16"/>
          <p:cNvSpPr/>
          <p:nvPr/>
        </p:nvSpPr>
        <p:spPr>
          <a:xfrm>
            <a:off x="4617720" y="343814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2525"/>
                </a:solidFill>
              </a:rPr>
              <a:t>5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516636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Comparar cartas</a:t>
            </a:r>
            <a:endParaRPr lang="en-US" sz="1700" dirty="0"/>
          </a:p>
        </p:txBody>
      </p:sp>
      <p:sp>
        <p:nvSpPr>
          <p:cNvPr id="21" name="Shape 18"/>
          <p:cNvSpPr/>
          <p:nvPr/>
        </p:nvSpPr>
        <p:spPr>
          <a:xfrm>
            <a:off x="8229600" y="3291840"/>
            <a:ext cx="2926080" cy="868680"/>
          </a:xfrm>
          <a:prstGeom prst="roundRect">
            <a:avLst>
              <a:gd name="adj" fmla="val 8421"/>
            </a:avLst>
          </a:prstGeom>
          <a:solidFill>
            <a:srgbClr val="242424">
              <a:alpha val="95000"/>
            </a:srgbClr>
          </a:solidFill>
          <a:ln w="12700">
            <a:solidFill>
              <a:srgbClr val="444444">
                <a:alpha val="9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2" name="Text 19"/>
          <p:cNvSpPr/>
          <p:nvPr/>
        </p:nvSpPr>
        <p:spPr>
          <a:xfrm>
            <a:off x="8366760" y="3438144"/>
            <a:ext cx="411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D92525"/>
                </a:solidFill>
              </a:rPr>
              <a:t>6</a:t>
            </a:r>
            <a:endParaRPr lang="en-US" sz="2200" dirty="0"/>
          </a:p>
        </p:txBody>
      </p:sp>
      <p:sp>
        <p:nvSpPr>
          <p:cNvPr id="23" name="Text 20"/>
          <p:cNvSpPr/>
          <p:nvPr/>
        </p:nvSpPr>
        <p:spPr>
          <a:xfrm>
            <a:off x="8915400" y="3474720"/>
            <a:ext cx="2011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</a:rPr>
              <a:t>Atualizar vencedor</a:t>
            </a:r>
            <a:endParaRPr lang="en-US" sz="1700" dirty="0"/>
          </a:p>
        </p:txBody>
      </p:sp>
      <p:sp>
        <p:nvSpPr>
          <p:cNvPr id="24" name="Text 21"/>
          <p:cNvSpPr/>
          <p:nvPr/>
        </p:nvSpPr>
        <p:spPr>
          <a:xfrm>
            <a:off x="731520" y="562356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300" b="1" dirty="0">
                <a:solidFill>
                  <a:srgbClr val="FFFFFF"/>
                </a:solidFill>
              </a:rPr>
              <a:t>Classe central: JogoSuperTrunfo.JogarRodada()</a:t>
            </a:r>
            <a:endParaRPr lang="en-US" sz="2300" dirty="0"/>
          </a:p>
        </p:txBody>
      </p:sp>
      <p:sp>
        <p:nvSpPr>
          <p:cNvPr id="25" name="Text 22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20040"/>
            <a:ext cx="80467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111111"/>
                </a:solidFill>
              </a:rPr>
              <a:t>Diagrama de classe do contexto escolhido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457200" y="868680"/>
            <a:ext cx="1554480" cy="0"/>
          </a:xfrm>
          <a:prstGeom prst="line">
            <a:avLst/>
          </a:prstGeom>
          <a:noFill/>
          <a:ln w="381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pic>
        <p:nvPicPr>
          <p:cNvPr id="4" name="Image 0" descr="/mnt/data/SuperTrunfo_Formula1/diagrama_classes_supertrunfo_f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200" y="2547551"/>
            <a:ext cx="11201400" cy="2220097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685800" y="6400800"/>
            <a:ext cx="9601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55555"/>
                </a:solidFill>
              </a:rPr>
              <a:t>Separação por responsabilidade: Console exibe, Core calcula, Tests validam.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ch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Classes e exceções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21208" y="850392"/>
            <a:ext cx="8229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B8B8"/>
                </a:solidFill>
              </a:rPr>
              <a:t>Pontos mais importantes para a defesa individual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463040" cy="0"/>
          </a:xfrm>
          <a:prstGeom prst="line">
            <a:avLst/>
          </a:prstGeom>
          <a:noFill/>
          <a:ln w="381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731520" y="1508760"/>
            <a:ext cx="31089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Classes principais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77240" y="201168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Carta: atributos e comparação</a:t>
            </a:r>
            <a:endParaRPr lang="en-US" sz="1700" dirty="0"/>
          </a:p>
        </p:txBody>
      </p:sp>
      <p:sp>
        <p:nvSpPr>
          <p:cNvPr id="8" name="Text 5"/>
          <p:cNvSpPr/>
          <p:nvPr/>
        </p:nvSpPr>
        <p:spPr>
          <a:xfrm>
            <a:off x="777240" y="251460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Jogador: fila de cartas</a:t>
            </a:r>
            <a:endParaRPr lang="en-US" sz="1700" dirty="0"/>
          </a:p>
        </p:txBody>
      </p:sp>
      <p:sp>
        <p:nvSpPr>
          <p:cNvPr id="9" name="Text 6"/>
          <p:cNvSpPr/>
          <p:nvPr/>
        </p:nvSpPr>
        <p:spPr>
          <a:xfrm>
            <a:off x="777240" y="301752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Baralho: cria e distribui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777240" y="3520440"/>
            <a:ext cx="5303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JogoSuperTrunfo: regra da rodada</a:t>
            </a:r>
            <a:endParaRPr lang="en-US" sz="1700" dirty="0"/>
          </a:p>
        </p:txBody>
      </p:sp>
      <p:sp>
        <p:nvSpPr>
          <p:cNvPr id="11" name="Text 8"/>
          <p:cNvSpPr/>
          <p:nvPr/>
        </p:nvSpPr>
        <p:spPr>
          <a:xfrm>
            <a:off x="6583680" y="150876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Tratamento de exceções</a:t>
            </a:r>
            <a:endParaRPr lang="en-US" sz="2100" dirty="0"/>
          </a:p>
        </p:txBody>
      </p:sp>
      <p:sp>
        <p:nvSpPr>
          <p:cNvPr id="12" name="Text 9"/>
          <p:cNvSpPr/>
          <p:nvPr/>
        </p:nvSpPr>
        <p:spPr>
          <a:xfrm>
            <a:off x="6629400" y="201168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try/catch no Program.cs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6629400" y="251460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OpcaoInvalidaException</a:t>
            </a:r>
            <a:endParaRPr lang="en-US" sz="1700" dirty="0"/>
          </a:p>
        </p:txBody>
      </p:sp>
      <p:sp>
        <p:nvSpPr>
          <p:cNvPr id="14" name="Text 11"/>
          <p:cNvSpPr/>
          <p:nvPr/>
        </p:nvSpPr>
        <p:spPr>
          <a:xfrm>
            <a:off x="6629400" y="301752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SemCartasException</a:t>
            </a:r>
            <a:endParaRPr lang="en-US" sz="1700" dirty="0"/>
          </a:p>
        </p:txBody>
      </p:sp>
      <p:sp>
        <p:nvSpPr>
          <p:cNvPr id="15" name="Text 12"/>
          <p:cNvSpPr/>
          <p:nvPr/>
        </p:nvSpPr>
        <p:spPr>
          <a:xfrm>
            <a:off x="6629400" y="3520440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D92525"/>
                </a:solidFill>
              </a:rPr>
              <a:t>■ </a:t>
            </a:r>
            <a:r>
              <a:rPr lang="en-US" sz="1700" dirty="0">
                <a:solidFill>
                  <a:srgbClr val="FFFFFF"/>
                </a:solidFill>
              </a:rPr>
              <a:t>Validações nos construtores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914400" y="5212080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FFFFFF"/>
                </a:solidFill>
              </a:rPr>
              <a:t>Regra especial: em pit stop, o menor tempo vence.</a:t>
            </a:r>
            <a:endParaRPr lang="en-US" sz="2400" dirty="0"/>
          </a:p>
        </p:txBody>
      </p:sp>
      <p:sp>
        <p:nvSpPr>
          <p:cNvPr id="17" name="Text 14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rid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Testes de unidade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21208" y="850392"/>
            <a:ext cx="8229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B8B8"/>
                </a:solidFill>
              </a:rPr>
              <a:t>Projeto SuperTrunfo.Tests usando xUnit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463040" cy="0"/>
          </a:xfrm>
          <a:prstGeom prst="line">
            <a:avLst/>
          </a:prstGeom>
          <a:noFill/>
          <a:ln w="381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822960" y="1508760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CartaTests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3657600" y="1527048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compara atributos e valida construtor</a:t>
            </a:r>
            <a:endParaRPr lang="en-US" sz="1550" dirty="0"/>
          </a:p>
        </p:txBody>
      </p:sp>
      <p:sp>
        <p:nvSpPr>
          <p:cNvPr id="8" name="Shape 5"/>
          <p:cNvSpPr/>
          <p:nvPr/>
        </p:nvSpPr>
        <p:spPr>
          <a:xfrm>
            <a:off x="822960" y="1947672"/>
            <a:ext cx="8778240" cy="0"/>
          </a:xfrm>
          <a:prstGeom prst="line">
            <a:avLst/>
          </a:prstGeom>
          <a:noFill/>
          <a:ln w="8890">
            <a:solidFill>
              <a:srgbClr val="55555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9" name="Text 6"/>
          <p:cNvSpPr/>
          <p:nvPr/>
        </p:nvSpPr>
        <p:spPr>
          <a:xfrm>
            <a:off x="822960" y="2221992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BaralhoTests</a:t>
            </a:r>
            <a:endParaRPr lang="en-US" sz="1800" dirty="0"/>
          </a:p>
        </p:txBody>
      </p:sp>
      <p:sp>
        <p:nvSpPr>
          <p:cNvPr id="10" name="Text 7"/>
          <p:cNvSpPr/>
          <p:nvPr/>
        </p:nvSpPr>
        <p:spPr>
          <a:xfrm>
            <a:off x="3657600" y="2240280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cria e distribui cartas</a:t>
            </a:r>
            <a:endParaRPr lang="en-US" sz="1550" dirty="0"/>
          </a:p>
        </p:txBody>
      </p:sp>
      <p:sp>
        <p:nvSpPr>
          <p:cNvPr id="11" name="Shape 8"/>
          <p:cNvSpPr/>
          <p:nvPr/>
        </p:nvSpPr>
        <p:spPr>
          <a:xfrm>
            <a:off x="822960" y="2660904"/>
            <a:ext cx="8778240" cy="0"/>
          </a:xfrm>
          <a:prstGeom prst="line">
            <a:avLst/>
          </a:prstGeom>
          <a:noFill/>
          <a:ln w="8890">
            <a:solidFill>
              <a:srgbClr val="55555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2" name="Text 9"/>
          <p:cNvSpPr/>
          <p:nvPr/>
        </p:nvSpPr>
        <p:spPr>
          <a:xfrm>
            <a:off x="822960" y="2935224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JogadorTests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3657600" y="2953512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joga carta e lança exceção</a:t>
            </a:r>
            <a:endParaRPr lang="en-US" sz="1550" dirty="0"/>
          </a:p>
        </p:txBody>
      </p:sp>
      <p:sp>
        <p:nvSpPr>
          <p:cNvPr id="14" name="Shape 11"/>
          <p:cNvSpPr/>
          <p:nvPr/>
        </p:nvSpPr>
        <p:spPr>
          <a:xfrm>
            <a:off x="822960" y="3374136"/>
            <a:ext cx="8778240" cy="0"/>
          </a:xfrm>
          <a:prstGeom prst="line">
            <a:avLst/>
          </a:prstGeom>
          <a:noFill/>
          <a:ln w="8890">
            <a:solidFill>
              <a:srgbClr val="55555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5" name="Text 12"/>
          <p:cNvSpPr/>
          <p:nvPr/>
        </p:nvSpPr>
        <p:spPr>
          <a:xfrm>
            <a:off x="822960" y="3648456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JogoSuperTrunfoTests</a:t>
            </a:r>
            <a:endParaRPr lang="en-US" sz="1800" dirty="0"/>
          </a:p>
        </p:txBody>
      </p:sp>
      <p:sp>
        <p:nvSpPr>
          <p:cNvPr id="16" name="Text 13"/>
          <p:cNvSpPr/>
          <p:nvPr/>
        </p:nvSpPr>
        <p:spPr>
          <a:xfrm>
            <a:off x="3657600" y="3666744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vitória, empate e fim do jogo</a:t>
            </a:r>
            <a:endParaRPr lang="en-US" sz="1550" dirty="0"/>
          </a:p>
        </p:txBody>
      </p:sp>
      <p:sp>
        <p:nvSpPr>
          <p:cNvPr id="17" name="Shape 14"/>
          <p:cNvSpPr/>
          <p:nvPr/>
        </p:nvSpPr>
        <p:spPr>
          <a:xfrm>
            <a:off x="822960" y="4087368"/>
            <a:ext cx="8778240" cy="0"/>
          </a:xfrm>
          <a:prstGeom prst="line">
            <a:avLst/>
          </a:prstGeom>
          <a:noFill/>
          <a:ln w="8890">
            <a:solidFill>
              <a:srgbClr val="55555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8" name="Text 15"/>
          <p:cNvSpPr/>
          <p:nvPr/>
        </p:nvSpPr>
        <p:spPr>
          <a:xfrm>
            <a:off x="822960" y="436168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ValidadorEntradaTests</a:t>
            </a:r>
            <a:endParaRPr lang="en-US" sz="1800" dirty="0"/>
          </a:p>
        </p:txBody>
      </p:sp>
      <p:sp>
        <p:nvSpPr>
          <p:cNvPr id="19" name="Text 16"/>
          <p:cNvSpPr/>
          <p:nvPr/>
        </p:nvSpPr>
        <p:spPr>
          <a:xfrm>
            <a:off x="3657600" y="4379976"/>
            <a:ext cx="5943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entrada válida e inválida</a:t>
            </a:r>
            <a:endParaRPr lang="en-US" sz="1550" dirty="0"/>
          </a:p>
        </p:txBody>
      </p:sp>
      <p:sp>
        <p:nvSpPr>
          <p:cNvPr id="20" name="Shape 17"/>
          <p:cNvSpPr/>
          <p:nvPr/>
        </p:nvSpPr>
        <p:spPr>
          <a:xfrm>
            <a:off x="822960" y="4800600"/>
            <a:ext cx="8778240" cy="0"/>
          </a:xfrm>
          <a:prstGeom prst="line">
            <a:avLst/>
          </a:prstGeom>
          <a:noFill/>
          <a:ln w="8890">
            <a:solidFill>
              <a:srgbClr val="555555">
                <a:alpha val="80000"/>
              </a:srgbClr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21" name="Text 18"/>
          <p:cNvSpPr/>
          <p:nvPr/>
        </p:nvSpPr>
        <p:spPr>
          <a:xfrm>
            <a:off x="822960" y="5623560"/>
            <a:ext cx="9601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FFFFFF"/>
                </a:solidFill>
              </a:rPr>
              <a:t>Comando: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2057400" y="5596128"/>
            <a:ext cx="8046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test tests/SuperTrunfo.Tests/SuperTrunfo.Tests.csproj</a:t>
            </a:r>
            <a:endParaRPr lang="en-US" sz="1400" dirty="0"/>
          </a:p>
        </p:txBody>
      </p:sp>
      <p:sp>
        <p:nvSpPr>
          <p:cNvPr id="23" name="Text 20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hero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Apresentação do programa funcionando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21208" y="850392"/>
            <a:ext cx="8229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endParaRPr lang="en-US" sz="1450" dirty="0"/>
          </a:p>
        </p:txBody>
      </p:sp>
      <p:sp>
        <p:nvSpPr>
          <p:cNvPr id="6" name="Text 3"/>
          <p:cNvSpPr/>
          <p:nvPr/>
        </p:nvSpPr>
        <p:spPr>
          <a:xfrm>
            <a:off x="777240" y="155448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92525"/>
                </a:solidFill>
              </a:rPr>
              <a:t>■ </a:t>
            </a:r>
            <a:r>
              <a:rPr lang="en-US" sz="1800" dirty="0">
                <a:solidFill>
                  <a:srgbClr val="FFFFFF"/>
                </a:solidFill>
              </a:rPr>
              <a:t>Abrir a solução no Visual Studio ou VS Code.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777240" y="205740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92525"/>
                </a:solidFill>
              </a:rPr>
              <a:t>■ </a:t>
            </a:r>
            <a:r>
              <a:rPr lang="en-US" sz="1800" dirty="0">
                <a:solidFill>
                  <a:srgbClr val="FFFFFF"/>
                </a:solidFill>
              </a:rPr>
              <a:t>Executar o jogo pelo Console.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77240" y="2560320"/>
            <a:ext cx="62179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92525"/>
                </a:solidFill>
              </a:rPr>
              <a:t>■ </a:t>
            </a:r>
            <a:r>
              <a:rPr lang="en-US" sz="1800" dirty="0">
                <a:solidFill>
                  <a:srgbClr val="FFFFFF"/>
                </a:solidFill>
              </a:rPr>
              <a:t>Escolher atributos e mostrar vitória/empate.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777240" y="3063240"/>
            <a:ext cx="68580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800" dirty="0">
                <a:solidFill>
                  <a:srgbClr val="D92525"/>
                </a:solidFill>
              </a:rPr>
              <a:t>■ </a:t>
            </a:r>
            <a:r>
              <a:rPr lang="en-US" sz="1800" dirty="0">
                <a:solidFill>
                  <a:srgbClr val="FFFFFF"/>
                </a:solidFill>
              </a:rPr>
              <a:t>Executar os testes de unidade com dotnet test.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777240" y="3886200"/>
            <a:ext cx="8961120" cy="960120"/>
          </a:xfrm>
          <a:prstGeom prst="rect">
            <a:avLst/>
          </a:prstGeom>
          <a:solidFill>
            <a:srgbClr val="0B0B0B">
              <a:alpha val="95000"/>
            </a:srgbClr>
          </a:solidFill>
          <a:ln w="12700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11" name="Text 8"/>
          <p:cNvSpPr/>
          <p:nvPr/>
        </p:nvSpPr>
        <p:spPr>
          <a:xfrm>
            <a:off x="960120" y="4096512"/>
            <a:ext cx="8595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run --project src/SuperTrunfo.ConsoleApp/SuperTrunfo.ConsoleApp.csproj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D9D9D9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dotnet test tests/SuperTrunfo.Tests/SuperTrunfo.Tests.csproj</a:t>
            </a:r>
            <a:endParaRPr lang="en-US" sz="1350" dirty="0"/>
          </a:p>
        </p:txBody>
      </p:sp>
      <p:sp>
        <p:nvSpPr>
          <p:cNvPr id="12" name="Text 9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tech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Defesa sobre partes do código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21208" y="850392"/>
            <a:ext cx="8229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B8B8"/>
                </a:solidFill>
              </a:rPr>
              <a:t>Respostas rápidas para perguntas prováveis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463040" cy="0"/>
          </a:xfrm>
          <a:prstGeom prst="line">
            <a:avLst/>
          </a:prstGeom>
          <a:noFill/>
          <a:ln w="381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777240" y="14173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Onde está a regra?</a:t>
            </a:r>
            <a:endParaRPr lang="en-US" sz="1800" dirty="0"/>
          </a:p>
        </p:txBody>
      </p:sp>
      <p:sp>
        <p:nvSpPr>
          <p:cNvPr id="7" name="Text 4"/>
          <p:cNvSpPr/>
          <p:nvPr/>
        </p:nvSpPr>
        <p:spPr>
          <a:xfrm>
            <a:off x="4846320" y="144475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Carta.CompararCom() e JogoSuperTrunfo.JogarRodada().</a:t>
            </a:r>
            <a:endParaRPr lang="en-US" sz="1550" dirty="0"/>
          </a:p>
        </p:txBody>
      </p:sp>
      <p:sp>
        <p:nvSpPr>
          <p:cNvPr id="8" name="Text 5"/>
          <p:cNvSpPr/>
          <p:nvPr/>
        </p:nvSpPr>
        <p:spPr>
          <a:xfrm>
            <a:off x="777240" y="23317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Onde estão as exceções?</a:t>
            </a:r>
            <a:endParaRPr lang="en-US" sz="1800" dirty="0"/>
          </a:p>
        </p:txBody>
      </p:sp>
      <p:sp>
        <p:nvSpPr>
          <p:cNvPr id="9" name="Text 6"/>
          <p:cNvSpPr/>
          <p:nvPr/>
        </p:nvSpPr>
        <p:spPr>
          <a:xfrm>
            <a:off x="4846320" y="235915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Exceptions + try/catch no Program.cs.</a:t>
            </a:r>
            <a:endParaRPr lang="en-US" sz="1550" dirty="0"/>
          </a:p>
        </p:txBody>
      </p:sp>
      <p:sp>
        <p:nvSpPr>
          <p:cNvPr id="10" name="Text 7"/>
          <p:cNvSpPr/>
          <p:nvPr/>
        </p:nvSpPr>
        <p:spPr>
          <a:xfrm>
            <a:off x="777240" y="32461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Por que separar projetos?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4846320" y="327355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Core concentra lógica, Console exibe e Tests validam.</a:t>
            </a:r>
            <a:endParaRPr lang="en-US" sz="1550" dirty="0"/>
          </a:p>
        </p:txBody>
      </p:sp>
      <p:sp>
        <p:nvSpPr>
          <p:cNvPr id="12" name="Text 9"/>
          <p:cNvSpPr/>
          <p:nvPr/>
        </p:nvSpPr>
        <p:spPr>
          <a:xfrm>
            <a:off x="777240" y="4160520"/>
            <a:ext cx="31089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</a:rPr>
              <a:t>Como provar que funciona?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4846320" y="4187952"/>
            <a:ext cx="5852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550" dirty="0">
                <a:solidFill>
                  <a:srgbClr val="D9D9D9"/>
                </a:solidFill>
              </a:rPr>
              <a:t>Executar o Console e os testes xUnit.</a:t>
            </a:r>
            <a:endParaRPr lang="en-US" sz="1550" dirty="0"/>
          </a:p>
        </p:txBody>
      </p:sp>
      <p:sp>
        <p:nvSpPr>
          <p:cNvPr id="14" name="Text 11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1111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mnt/data/grid_dark.png"/>
          <p:cNvPicPr>
            <a:picLocks noChangeAspect="1"/>
          </p:cNvPicPr>
          <p:nvPr/>
        </p:nvPicPr>
        <p:blipFill>
          <a:blip r:embed="rId3"/>
          <a:srcRect t="25" b="25"/>
          <a:stretch/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502920" y="320040"/>
            <a:ext cx="7863840" cy="50292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Dificuldades, conclusão e referências</a:t>
            </a:r>
            <a:endParaRPr lang="en-US" sz="2900" dirty="0"/>
          </a:p>
        </p:txBody>
      </p:sp>
      <p:sp>
        <p:nvSpPr>
          <p:cNvPr id="4" name="Text 1"/>
          <p:cNvSpPr/>
          <p:nvPr/>
        </p:nvSpPr>
        <p:spPr>
          <a:xfrm>
            <a:off x="521208" y="850392"/>
            <a:ext cx="8229600" cy="320040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ctr">
            <a:normAutofit/>
          </a:bodyPr>
          <a:lstStyle/>
          <a:p>
            <a:pPr marL="0" indent="0">
              <a:buNone/>
            </a:pPr>
            <a:r>
              <a:rPr lang="en-US" sz="1450" dirty="0">
                <a:solidFill>
                  <a:srgbClr val="B8B8B8"/>
                </a:solidFill>
              </a:rPr>
              <a:t>Fechamento da apresentação</a:t>
            </a:r>
            <a:endParaRPr lang="en-US" sz="1450" dirty="0"/>
          </a:p>
        </p:txBody>
      </p:sp>
      <p:sp>
        <p:nvSpPr>
          <p:cNvPr id="5" name="Shape 2"/>
          <p:cNvSpPr/>
          <p:nvPr/>
        </p:nvSpPr>
        <p:spPr>
          <a:xfrm>
            <a:off x="502920" y="1207008"/>
            <a:ext cx="1463040" cy="0"/>
          </a:xfrm>
          <a:prstGeom prst="line">
            <a:avLst/>
          </a:prstGeom>
          <a:noFill/>
          <a:ln w="38100">
            <a:solidFill>
              <a:srgbClr val="D92525"/>
            </a:solidFill>
            <a:prstDash val="solid"/>
          </a:ln>
        </p:spPr>
        <p:txBody>
          <a:bodyPr/>
          <a:lstStyle/>
          <a:p>
            <a:endParaRPr lang="pt-BR"/>
          </a:p>
        </p:txBody>
      </p:sp>
      <p:sp>
        <p:nvSpPr>
          <p:cNvPr id="6" name="Text 3"/>
          <p:cNvSpPr/>
          <p:nvPr/>
        </p:nvSpPr>
        <p:spPr>
          <a:xfrm>
            <a:off x="731520" y="14630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Dificuldades</a:t>
            </a:r>
            <a:endParaRPr lang="en-US" sz="2100" dirty="0"/>
          </a:p>
        </p:txBody>
      </p:sp>
      <p:sp>
        <p:nvSpPr>
          <p:cNvPr id="7" name="Text 4"/>
          <p:cNvSpPr/>
          <p:nvPr/>
        </p:nvSpPr>
        <p:spPr>
          <a:xfrm>
            <a:off x="777240" y="1920240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92525"/>
                </a:solidFill>
              </a:rPr>
              <a:t>■ </a:t>
            </a:r>
            <a:r>
              <a:rPr lang="en-US" sz="1600" dirty="0">
                <a:solidFill>
                  <a:srgbClr val="FFFFFF"/>
                </a:solidFill>
              </a:rPr>
              <a:t>Separar regra do jogo da interface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777240" y="2359152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92525"/>
                </a:solidFill>
              </a:rPr>
              <a:t>■ </a:t>
            </a:r>
            <a:r>
              <a:rPr lang="en-US" sz="1600" dirty="0">
                <a:solidFill>
                  <a:srgbClr val="FFFFFF"/>
                </a:solidFill>
              </a:rPr>
              <a:t>Tratar entrada inválida</a:t>
            </a:r>
            <a:endParaRPr lang="en-US" sz="1600" dirty="0"/>
          </a:p>
        </p:txBody>
      </p:sp>
      <p:sp>
        <p:nvSpPr>
          <p:cNvPr id="9" name="Text 6"/>
          <p:cNvSpPr/>
          <p:nvPr/>
        </p:nvSpPr>
        <p:spPr>
          <a:xfrm>
            <a:off x="777240" y="2798064"/>
            <a:ext cx="5212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92525"/>
                </a:solidFill>
              </a:rPr>
              <a:t>■ </a:t>
            </a:r>
            <a:r>
              <a:rPr lang="en-US" sz="1600" dirty="0">
                <a:solidFill>
                  <a:srgbClr val="FFFFFF"/>
                </a:solidFill>
              </a:rPr>
              <a:t>Testar vitória, empate e exceções</a:t>
            </a:r>
            <a:endParaRPr lang="en-US" sz="1600" dirty="0"/>
          </a:p>
        </p:txBody>
      </p:sp>
      <p:sp>
        <p:nvSpPr>
          <p:cNvPr id="10" name="Text 7"/>
          <p:cNvSpPr/>
          <p:nvPr/>
        </p:nvSpPr>
        <p:spPr>
          <a:xfrm>
            <a:off x="6492240" y="1463040"/>
            <a:ext cx="3200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100" b="1" dirty="0">
                <a:solidFill>
                  <a:srgbClr val="FFFFFF"/>
                </a:solidFill>
              </a:rPr>
              <a:t>Conclusão</a:t>
            </a:r>
            <a:endParaRPr lang="en-US" sz="2100" dirty="0"/>
          </a:p>
        </p:txBody>
      </p:sp>
      <p:sp>
        <p:nvSpPr>
          <p:cNvPr id="11" name="Text 8"/>
          <p:cNvSpPr/>
          <p:nvPr/>
        </p:nvSpPr>
        <p:spPr>
          <a:xfrm>
            <a:off x="6537960" y="1920240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92525"/>
                </a:solidFill>
              </a:rPr>
              <a:t>■ </a:t>
            </a:r>
            <a:r>
              <a:rPr lang="en-US" sz="1600" dirty="0">
                <a:solidFill>
                  <a:srgbClr val="FFFFFF"/>
                </a:solidFill>
              </a:rPr>
              <a:t>Projeto cumpre classes, exceções e testes</a:t>
            </a:r>
            <a:endParaRPr lang="en-US" sz="1600" dirty="0"/>
          </a:p>
        </p:txBody>
      </p:sp>
      <p:sp>
        <p:nvSpPr>
          <p:cNvPr id="12" name="Text 9"/>
          <p:cNvSpPr/>
          <p:nvPr/>
        </p:nvSpPr>
        <p:spPr>
          <a:xfrm>
            <a:off x="6537960" y="2359152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92525"/>
                </a:solidFill>
              </a:rPr>
              <a:t>■ </a:t>
            </a:r>
            <a:r>
              <a:rPr lang="en-US" sz="1600" dirty="0">
                <a:solidFill>
                  <a:srgbClr val="FFFFFF"/>
                </a:solidFill>
              </a:rPr>
              <a:t>Estrutura facilita manutenção e defesa</a:t>
            </a:r>
            <a:endParaRPr lang="en-US" sz="1600" dirty="0"/>
          </a:p>
        </p:txBody>
      </p:sp>
      <p:sp>
        <p:nvSpPr>
          <p:cNvPr id="13" name="Text 10"/>
          <p:cNvSpPr/>
          <p:nvPr/>
        </p:nvSpPr>
        <p:spPr>
          <a:xfrm>
            <a:off x="6537960" y="2798064"/>
            <a:ext cx="5029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600" dirty="0">
                <a:solidFill>
                  <a:srgbClr val="D92525"/>
                </a:solidFill>
              </a:rPr>
              <a:t>■ </a:t>
            </a:r>
            <a:r>
              <a:rPr lang="en-US" sz="1600" dirty="0">
                <a:solidFill>
                  <a:srgbClr val="FFFFFF"/>
                </a:solidFill>
              </a:rPr>
              <a:t>Tema F1 torna o jogo mais atrativo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777240" y="5760720"/>
            <a:ext cx="98755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9D9D9"/>
                </a:solidFill>
              </a:rPr>
              <a:t>Referências: Microsoft Learn C#/.NET • xUnit.net • Formula1.com</a:t>
            </a:r>
            <a:endParaRPr lang="en-US" sz="1400" dirty="0"/>
          </a:p>
        </p:txBody>
      </p:sp>
      <p:sp>
        <p:nvSpPr>
          <p:cNvPr id="15" name="Text 12"/>
          <p:cNvSpPr/>
          <p:nvPr/>
        </p:nvSpPr>
        <p:spPr>
          <a:xfrm>
            <a:off x="9829800" y="6446520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888888"/>
                </a:solidFill>
              </a:rPr>
              <a:t>Super Trunfo F1  |  9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</TotalTime>
  <Words>523</Words>
  <Application>Microsoft Office PowerPoint</Application>
  <PresentationFormat>Widescreen</PresentationFormat>
  <Paragraphs>107</Paragraphs>
  <Slides>9</Slides>
  <Notes>9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9</vt:i4>
      </vt:variant>
    </vt:vector>
  </HeadingPairs>
  <TitlesOfParts>
    <vt:vector size="13" baseType="lpstr">
      <vt:lpstr>Aptos Display</vt:lpstr>
      <vt:lpstr>Arial</vt:lpstr>
      <vt:lpstr>Consolas</vt:lpstr>
      <vt:lpstr>Office Theme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>Projeto Acadêmico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Super Trunfo - Fórmula 1</dc:title>
  <dc:subject>Super Trunfo Fórmula 1</dc:subject>
  <dc:creator>ChatGPT</dc:creator>
  <cp:lastModifiedBy>DANIEL SCATOLINO</cp:lastModifiedBy>
  <cp:revision>1</cp:revision>
  <dcterms:created xsi:type="dcterms:W3CDTF">2026-09-15T16:00:21Z</dcterms:created>
  <dcterms:modified xsi:type="dcterms:W3CDTF">2026-09-15T19:18:23Z</dcterms:modified>
</cp:coreProperties>
</file>